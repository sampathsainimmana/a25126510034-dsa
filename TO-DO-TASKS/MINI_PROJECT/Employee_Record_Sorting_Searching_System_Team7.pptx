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828800"/>
          </a:xfrm>
          <a:prstGeom prst="rect">
            <a:avLst/>
          </a:prstGeom>
          <a:solidFill>
            <a:srgbClr val="143559"/>
          </a:solidFill>
          <a:ln>
            <a:solidFill>
              <a:srgbClr val="1435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0789920" y="0"/>
            <a:ext cx="1399032" cy="1828800"/>
          </a:xfrm>
          <a:prstGeom prst="rect">
            <a:avLst/>
          </a:prstGeom>
          <a:solidFill>
            <a:srgbClr val="2667A6"/>
          </a:solidFill>
          <a:ln>
            <a:solidFill>
              <a:srgbClr val="266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601200" cy="100584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Aptos"/>
              </a:defRPr>
            </a:pPr>
            <a:r>
              <a:t>EMPLOYEE RECORD</a:t>
            </a:r>
            <a:br/>
            <a:r>
              <a:t>SORTING AND SEARCHING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40280"/>
            <a:ext cx="10515600" cy="45720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>
              <a:defRPr sz="2000" b="1">
                <a:solidFill>
                  <a:srgbClr val="2667A6"/>
                </a:solidFill>
                <a:latin typeface="Aptos"/>
              </a:defRPr>
            </a:pPr>
            <a:r>
              <a:t>DATA STRUCTURES &amp; ALGORITHMS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880360"/>
            <a:ext cx="10698480" cy="50292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>
              <a:defRPr sz="1900" b="0">
                <a:solidFill>
                  <a:srgbClr val="1A222A"/>
                </a:solidFill>
                <a:latin typeface="Aptos"/>
              </a:defRPr>
            </a:pPr>
            <a:r>
              <a:t>Developed using the C Programming Language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657600"/>
            <a:ext cx="10607040" cy="2057400"/>
          </a:xfrm>
          <a:prstGeom prst="roundRect">
            <a:avLst/>
          </a:prstGeom>
          <a:solidFill>
            <a:srgbClr val="F6F8FA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3886200"/>
            <a:ext cx="9875520" cy="32004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ctr">
              <a:defRPr sz="2000" b="1">
                <a:solidFill>
                  <a:srgbClr val="143559"/>
                </a:solidFill>
                <a:latin typeface="Aptos"/>
              </a:defRPr>
            </a:pPr>
            <a:r>
              <a:t>TEAM-7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4315968"/>
            <a:ext cx="9509760" cy="123444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ctr">
              <a:defRPr sz="1500" b="0">
                <a:solidFill>
                  <a:srgbClr val="1A222A"/>
                </a:solidFill>
                <a:latin typeface="Aptos"/>
              </a:defRPr>
            </a:pPr>
            <a:r>
              <a:t>A25126510034 — N. SAMPATH SAI</a:t>
            </a:r>
            <a:br/>
            <a:r>
              <a:t>A25126510036 — P. SOHAIL KHAN</a:t>
            </a:r>
            <a:br/>
            <a:r>
              <a:t>A25126510037 — P. MANIKANTA</a:t>
            </a:r>
            <a:br/>
            <a:r>
              <a:t>A25126510058 — U. ABHISHEK</a:t>
            </a:r>
            <a:br/>
            <a:r>
              <a:t>A25126510065 — V. ROHITH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73952"/>
            <a:ext cx="2743200" cy="201168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>
              <a:defRPr sz="1000" b="0">
                <a:solidFill>
                  <a:srgbClr val="5F6973"/>
                </a:solidFill>
                <a:latin typeface="Aptos"/>
              </a:defRPr>
            </a:pPr>
            <a:r>
              <a:t>TEAM-7  |  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43559"/>
          </a:solidFill>
          <a:ln>
            <a:solidFill>
              <a:srgbClr val="1435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0698480" cy="658368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ptos"/>
              </a:defRPr>
            </a:pPr>
            <a:r>
              <a:t>INTRODUCTION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11109960" y="0"/>
            <a:ext cx="411480" cy="914400"/>
          </a:xfrm>
          <a:prstGeom prst="rect">
            <a:avLst/>
          </a:prstGeom>
          <a:solidFill>
            <a:srgbClr val="2667A6"/>
          </a:solidFill>
          <a:ln>
            <a:solidFill>
              <a:srgbClr val="266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1539728" y="0"/>
            <a:ext cx="292608" cy="914400"/>
          </a:xfrm>
          <a:prstGeom prst="rect">
            <a:avLst/>
          </a:prstGeom>
          <a:solidFill>
            <a:srgbClr val="368BCF"/>
          </a:solidFill>
          <a:ln>
            <a:solidFill>
              <a:srgbClr val="368B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61320" y="6473952"/>
            <a:ext cx="1143000" cy="22860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r">
              <a:defRPr sz="1100" b="1">
                <a:solidFill>
                  <a:srgbClr val="5F6973"/>
                </a:solidFill>
                <a:latin typeface="Aptos"/>
              </a:defRPr>
            </a:pPr>
            <a:r>
              <a:t>TEAM-7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2011680" cy="22860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>
              <a:defRPr sz="900" b="0">
                <a:solidFill>
                  <a:srgbClr val="5F6973"/>
                </a:solidFill>
                <a:latin typeface="Aptos"/>
              </a:defRPr>
            </a:pPr>
            <a:r>
              <a:t>EMPLOYEE RECORD SYSTEM  |  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508760"/>
            <a:ext cx="5486400" cy="4526280"/>
          </a:xfrm>
          <a:prstGeom prst="roundRect">
            <a:avLst/>
          </a:prstGeom>
          <a:solidFill>
            <a:srgbClr val="E8F3FD"/>
          </a:solidFill>
          <a:ln>
            <a:solidFill>
              <a:srgbClr val="266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1344168"/>
            <a:ext cx="4846320" cy="438912"/>
          </a:xfrm>
          <a:prstGeom prst="roundRect">
            <a:avLst/>
          </a:prstGeom>
          <a:solidFill>
            <a:srgbClr val="2667A6"/>
          </a:solidFill>
          <a:ln>
            <a:solidFill>
              <a:srgbClr val="266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1380743"/>
            <a:ext cx="4754880" cy="347472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PROJECT OVERVIEW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148840"/>
            <a:ext cx="228600" cy="32004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>
              <a:defRPr sz="2200" b="1">
                <a:solidFill>
                  <a:srgbClr val="CA3E3A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" y="2148840"/>
            <a:ext cx="4544568" cy="786384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>
              <a:defRPr sz="1600" b="0">
                <a:solidFill>
                  <a:srgbClr val="1A222A"/>
                </a:solidFill>
                <a:latin typeface="Aptos"/>
              </a:defRPr>
            </a:pPr>
            <a:r>
              <a:t>A C-based project for managing employee records.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2990088"/>
            <a:ext cx="228600" cy="32004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>
              <a:defRPr sz="2200" b="1">
                <a:solidFill>
                  <a:srgbClr val="CA3E3A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9264" y="2990088"/>
            <a:ext cx="4544568" cy="786384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>
              <a:defRPr sz="1600" b="0">
                <a:solidFill>
                  <a:srgbClr val="1A222A"/>
                </a:solidFill>
                <a:latin typeface="Aptos"/>
              </a:defRPr>
            </a:pPr>
            <a:r>
              <a:t>Stores ID, name, department, and salary.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3831336"/>
            <a:ext cx="228600" cy="32004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>
              <a:defRPr sz="2200" b="1">
                <a:solidFill>
                  <a:srgbClr val="CA3E3A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9264" y="3831336"/>
            <a:ext cx="4544568" cy="786384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>
              <a:defRPr sz="1600" b="0">
                <a:solidFill>
                  <a:srgbClr val="1A222A"/>
                </a:solidFill>
                <a:latin typeface="Aptos"/>
              </a:defRPr>
            </a:pPr>
            <a:r>
              <a:t>Uses a menu-driven interface for common operations.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4672584"/>
            <a:ext cx="228600" cy="32004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>
              <a:defRPr sz="2200" b="1">
                <a:solidFill>
                  <a:srgbClr val="CA3E3A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9264" y="4672584"/>
            <a:ext cx="4544568" cy="786384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>
              <a:defRPr sz="1600" b="0">
                <a:solidFill>
                  <a:srgbClr val="1A222A"/>
                </a:solidFill>
                <a:latin typeface="Aptos"/>
              </a:defRPr>
            </a:pPr>
            <a:r>
              <a:t>Demonstrates structures, arrays, algorithms, and file handling.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1508760"/>
            <a:ext cx="5440680" cy="4526280"/>
          </a:xfrm>
          <a:prstGeom prst="roundRect">
            <a:avLst/>
          </a:prstGeom>
          <a:solidFill>
            <a:srgbClr val="EBF7ED"/>
          </a:solidFill>
          <a:ln>
            <a:solidFill>
              <a:srgbClr val="227B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629400" y="1344168"/>
            <a:ext cx="4800600" cy="438912"/>
          </a:xfrm>
          <a:prstGeom prst="roundRect">
            <a:avLst/>
          </a:prstGeom>
          <a:solidFill>
            <a:srgbClr val="227B4E"/>
          </a:solidFill>
          <a:ln>
            <a:solidFill>
              <a:srgbClr val="227B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675120" y="1380743"/>
            <a:ext cx="4709160" cy="347472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EMPLOYEE INFORMATION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20840" y="2148840"/>
            <a:ext cx="452628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B4DA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903720" y="2221992"/>
            <a:ext cx="594360" cy="41148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ctr">
              <a:defRPr sz="1600" b="1">
                <a:solidFill>
                  <a:srgbClr val="227B4E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0" y="2221992"/>
            <a:ext cx="3200400" cy="41148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>
              <a:defRPr sz="1800" b="1">
                <a:solidFill>
                  <a:srgbClr val="1A222A"/>
                </a:solidFill>
                <a:latin typeface="Aptos"/>
              </a:defRPr>
            </a:pPr>
            <a:r>
              <a:t>Employee ID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720840" y="2971800"/>
            <a:ext cx="452628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B4DA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903720" y="3044952"/>
            <a:ext cx="594360" cy="41148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ctr">
              <a:defRPr sz="1600" b="1">
                <a:solidFill>
                  <a:srgbClr val="227B4E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0" y="3044952"/>
            <a:ext cx="3200400" cy="41148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>
              <a:defRPr sz="1800" b="1">
                <a:solidFill>
                  <a:srgbClr val="1A222A"/>
                </a:solidFill>
                <a:latin typeface="Aptos"/>
              </a:defRPr>
            </a:pPr>
            <a:r>
              <a:t>Employee Name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720840" y="3794760"/>
            <a:ext cx="452628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B4DA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903720" y="3867912"/>
            <a:ext cx="594360" cy="41148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ctr">
              <a:defRPr sz="1600" b="1">
                <a:solidFill>
                  <a:srgbClr val="227B4E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80960" y="3867912"/>
            <a:ext cx="3200400" cy="41148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>
              <a:defRPr sz="1800" b="1">
                <a:solidFill>
                  <a:srgbClr val="1A222A"/>
                </a:solidFill>
                <a:latin typeface="Aptos"/>
              </a:defRPr>
            </a:pPr>
            <a:r>
              <a:t>Department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720840" y="4617720"/>
            <a:ext cx="452628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B4DA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903720" y="4690872"/>
            <a:ext cx="594360" cy="41148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ctr">
              <a:defRPr sz="1600" b="1">
                <a:solidFill>
                  <a:srgbClr val="227B4E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80960" y="4690872"/>
            <a:ext cx="3200400" cy="41148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>
              <a:defRPr sz="1800" b="1">
                <a:solidFill>
                  <a:srgbClr val="1A222A"/>
                </a:solidFill>
                <a:latin typeface="Aptos"/>
              </a:defRPr>
            </a:pPr>
            <a:r>
              <a:t>Salary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43559"/>
          </a:solidFill>
          <a:ln>
            <a:solidFill>
              <a:srgbClr val="1435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0698480" cy="658368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ptos"/>
              </a:defRPr>
            </a:pPr>
            <a:r>
              <a:t>PROBLEM STATEMENT &amp;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11109960" y="0"/>
            <a:ext cx="411480" cy="914400"/>
          </a:xfrm>
          <a:prstGeom prst="rect">
            <a:avLst/>
          </a:prstGeom>
          <a:solidFill>
            <a:srgbClr val="2667A6"/>
          </a:solidFill>
          <a:ln>
            <a:solidFill>
              <a:srgbClr val="266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1539728" y="0"/>
            <a:ext cx="292608" cy="914400"/>
          </a:xfrm>
          <a:prstGeom prst="rect">
            <a:avLst/>
          </a:prstGeom>
          <a:solidFill>
            <a:srgbClr val="368BCF"/>
          </a:solidFill>
          <a:ln>
            <a:solidFill>
              <a:srgbClr val="368B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61320" y="6473952"/>
            <a:ext cx="1143000" cy="22860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r">
              <a:defRPr sz="1100" b="1">
                <a:solidFill>
                  <a:srgbClr val="5F6973"/>
                </a:solidFill>
                <a:latin typeface="Aptos"/>
              </a:defRPr>
            </a:pPr>
            <a:r>
              <a:t>TEAM-7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2011680" cy="22860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>
              <a:defRPr sz="900" b="0">
                <a:solidFill>
                  <a:srgbClr val="5F6973"/>
                </a:solidFill>
                <a:latin typeface="Aptos"/>
              </a:defRPr>
            </a:pPr>
            <a:r>
              <a:t>EMPLOYEE RECORD SYSTEM  |  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" y="1508760"/>
            <a:ext cx="5394960" cy="4617720"/>
          </a:xfrm>
          <a:prstGeom prst="roundRect">
            <a:avLst/>
          </a:prstGeom>
          <a:solidFill>
            <a:srgbClr val="FFEEEB"/>
          </a:solidFill>
          <a:ln>
            <a:solidFill>
              <a:srgbClr val="CA3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40080" y="1344168"/>
            <a:ext cx="4754880" cy="438912"/>
          </a:xfrm>
          <a:prstGeom prst="roundRect">
            <a:avLst/>
          </a:prstGeom>
          <a:solidFill>
            <a:srgbClr val="CA3E3A"/>
          </a:solidFill>
          <a:ln>
            <a:solidFill>
              <a:srgbClr val="CA3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1380743"/>
            <a:ext cx="4663440" cy="347472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PROBLEM STATEMENT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148840"/>
            <a:ext cx="228600" cy="32004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>
              <a:defRPr sz="2200" b="1">
                <a:solidFill>
                  <a:srgbClr val="CA3E3A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2148840"/>
            <a:ext cx="4498848" cy="804671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>
              <a:defRPr sz="1500" b="0">
                <a:solidFill>
                  <a:srgbClr val="1A222A"/>
                </a:solidFill>
                <a:latin typeface="Aptos"/>
              </a:defRPr>
            </a:pPr>
            <a:r>
              <a:t>Manual record management becomes difficult as employee numbers increase.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008376"/>
            <a:ext cx="228600" cy="32004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>
              <a:defRPr sz="2200" b="1">
                <a:solidFill>
                  <a:srgbClr val="CA3E3A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" y="3008376"/>
            <a:ext cx="4498848" cy="804671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>
              <a:defRPr sz="1500" b="0">
                <a:solidFill>
                  <a:srgbClr val="1A222A"/>
                </a:solidFill>
                <a:latin typeface="Aptos"/>
              </a:defRPr>
            </a:pPr>
            <a:r>
              <a:t>Finding or updating a specific record can take extra time.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867912"/>
            <a:ext cx="228600" cy="32004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>
              <a:defRPr sz="2200" b="1">
                <a:solidFill>
                  <a:srgbClr val="CA3E3A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3867912"/>
            <a:ext cx="4498848" cy="804671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>
              <a:defRPr sz="1500" b="0">
                <a:solidFill>
                  <a:srgbClr val="1A222A"/>
                </a:solidFill>
                <a:latin typeface="Aptos"/>
              </a:defRPr>
            </a:pPr>
            <a:r>
              <a:t>Manual records can lead to errors and disorganized information.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727448"/>
            <a:ext cx="228600" cy="32004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>
              <a:defRPr sz="2200" b="1">
                <a:solidFill>
                  <a:srgbClr val="CA3E3A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" y="4727448"/>
            <a:ext cx="4498848" cy="804671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>
              <a:defRPr sz="1500" b="0">
                <a:solidFill>
                  <a:srgbClr val="1A222A"/>
                </a:solidFill>
                <a:latin typeface="Aptos"/>
              </a:defRPr>
            </a:pPr>
            <a:r>
              <a:t>A simple, efficient record-management system is needed.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15000" y="3154680"/>
            <a:ext cx="685800" cy="73152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ctr">
              <a:defRPr sz="3400" b="1">
                <a:solidFill>
                  <a:srgbClr val="143559"/>
                </a:solidFill>
                <a:latin typeface="Aptos"/>
              </a:defRPr>
            </a:pPr>
            <a:r>
              <a:t>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1508760"/>
            <a:ext cx="5440680" cy="4617720"/>
          </a:xfrm>
          <a:prstGeom prst="roundRect">
            <a:avLst/>
          </a:prstGeom>
          <a:solidFill>
            <a:srgbClr val="EBF7ED"/>
          </a:solidFill>
          <a:ln>
            <a:solidFill>
              <a:srgbClr val="227B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720840" y="1344168"/>
            <a:ext cx="4800600" cy="438912"/>
          </a:xfrm>
          <a:prstGeom prst="roundRect">
            <a:avLst/>
          </a:prstGeom>
          <a:solidFill>
            <a:srgbClr val="227B4E"/>
          </a:solidFill>
          <a:ln>
            <a:solidFill>
              <a:srgbClr val="227B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766560" y="1380743"/>
            <a:ext cx="4709160" cy="347472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OBJECTIVES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2148840"/>
            <a:ext cx="228600" cy="32004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>
              <a:defRPr sz="2200" b="1">
                <a:solidFill>
                  <a:srgbClr val="CA3E3A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31152" y="2148840"/>
            <a:ext cx="4544568" cy="658368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>
              <a:defRPr sz="1500" b="0">
                <a:solidFill>
                  <a:srgbClr val="1A222A"/>
                </a:solidFill>
                <a:latin typeface="Aptos"/>
              </a:defRPr>
            </a:pPr>
            <a:r>
              <a:t>Develop a menu-driven employee record system.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2862072"/>
            <a:ext cx="228600" cy="32004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>
              <a:defRPr sz="2200" b="1">
                <a:solidFill>
                  <a:srgbClr val="CA3E3A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31152" y="2862072"/>
            <a:ext cx="4544568" cy="658368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>
              <a:defRPr sz="1500" b="0">
                <a:solidFill>
                  <a:srgbClr val="1A222A"/>
                </a:solidFill>
                <a:latin typeface="Aptos"/>
              </a:defRPr>
            </a:pPr>
            <a:r>
              <a:t>Search employees by ID or name.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3575304"/>
            <a:ext cx="228600" cy="32004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>
              <a:defRPr sz="2200" b="1">
                <a:solidFill>
                  <a:srgbClr val="CA3E3A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31152" y="3575304"/>
            <a:ext cx="4544568" cy="658368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>
              <a:defRPr sz="1500" b="0">
                <a:solidFill>
                  <a:srgbClr val="1A222A"/>
                </a:solidFill>
                <a:latin typeface="Aptos"/>
              </a:defRPr>
            </a:pPr>
            <a:r>
              <a:t>Sort records by ID, name, or salary.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4288536"/>
            <a:ext cx="228600" cy="32004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>
              <a:defRPr sz="2200" b="1">
                <a:solidFill>
                  <a:srgbClr val="CA3E3A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31152" y="4288536"/>
            <a:ext cx="4544568" cy="658368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>
              <a:defRPr sz="1500" b="0">
                <a:solidFill>
                  <a:srgbClr val="1A222A"/>
                </a:solidFill>
                <a:latin typeface="Aptos"/>
              </a:defRPr>
            </a:pPr>
            <a:r>
              <a:t>Update and delete employee details.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5001768"/>
            <a:ext cx="228600" cy="32004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>
              <a:defRPr sz="2200" b="1">
                <a:solidFill>
                  <a:srgbClr val="CA3E3A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31152" y="5001768"/>
            <a:ext cx="4544568" cy="658368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>
              <a:defRPr sz="1500" b="0">
                <a:solidFill>
                  <a:srgbClr val="1A222A"/>
                </a:solidFill>
                <a:latin typeface="Aptos"/>
              </a:defRPr>
            </a:pPr>
            <a:r>
              <a:t>Save and load records using a text file.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43559"/>
          </a:solidFill>
          <a:ln>
            <a:solidFill>
              <a:srgbClr val="1435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0698480" cy="658368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ptos"/>
              </a:defRPr>
            </a:pPr>
            <a:r>
              <a:t>DATA STRUCTURES &amp; TECHNOLOGIES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11109960" y="0"/>
            <a:ext cx="411480" cy="914400"/>
          </a:xfrm>
          <a:prstGeom prst="rect">
            <a:avLst/>
          </a:prstGeom>
          <a:solidFill>
            <a:srgbClr val="2667A6"/>
          </a:solidFill>
          <a:ln>
            <a:solidFill>
              <a:srgbClr val="266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1539728" y="0"/>
            <a:ext cx="292608" cy="914400"/>
          </a:xfrm>
          <a:prstGeom prst="rect">
            <a:avLst/>
          </a:prstGeom>
          <a:solidFill>
            <a:srgbClr val="368BCF"/>
          </a:solidFill>
          <a:ln>
            <a:solidFill>
              <a:srgbClr val="368B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61320" y="6473952"/>
            <a:ext cx="1143000" cy="22860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r">
              <a:defRPr sz="1100" b="1">
                <a:solidFill>
                  <a:srgbClr val="5F6973"/>
                </a:solidFill>
                <a:latin typeface="Aptos"/>
              </a:defRPr>
            </a:pPr>
            <a:r>
              <a:t>TEAM-7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2011680" cy="22860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>
              <a:defRPr sz="900" b="0">
                <a:solidFill>
                  <a:srgbClr val="5F6973"/>
                </a:solidFill>
                <a:latin typeface="Aptos"/>
              </a:defRPr>
            </a:pPr>
            <a:r>
              <a:t>EMPLOYEE RECORD SYSTEM  |  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508760"/>
            <a:ext cx="5440680" cy="1600200"/>
          </a:xfrm>
          <a:prstGeom prst="roundRect">
            <a:avLst/>
          </a:prstGeom>
          <a:solidFill>
            <a:srgbClr val="E8F3FD"/>
          </a:solidFill>
          <a:ln>
            <a:solidFill>
              <a:srgbClr val="266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667512" y="1673351"/>
            <a:ext cx="566928" cy="566928"/>
          </a:xfrm>
          <a:prstGeom prst="ellipse">
            <a:avLst/>
          </a:prstGeom>
          <a:solidFill>
            <a:srgbClr val="2667A6"/>
          </a:solidFill>
          <a:ln>
            <a:solidFill>
              <a:srgbClr val="266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76656" y="1700784"/>
            <a:ext cx="548640" cy="45720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ctr">
              <a:defRPr sz="1900" b="1">
                <a:solidFill>
                  <a:srgbClr val="FFFFFF"/>
                </a:solidFill>
                <a:latin typeface="Aptos"/>
              </a:defRPr>
            </a:pPr>
            <a:r>
              <a:t>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1645919"/>
            <a:ext cx="4453128" cy="32004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>
              <a:defRPr sz="1700" b="1">
                <a:solidFill>
                  <a:srgbClr val="2667A6"/>
                </a:solidFill>
                <a:latin typeface="Aptos"/>
              </a:defRPr>
            </a:pPr>
            <a:r>
              <a:t>C Programming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44168" y="1993391"/>
            <a:ext cx="4453128" cy="1033271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>
              <a:defRPr sz="1300" b="0">
                <a:solidFill>
                  <a:srgbClr val="1A222A"/>
                </a:solidFill>
                <a:latin typeface="Aptos"/>
              </a:defRPr>
            </a:pPr>
            <a:r>
              <a:t>Core language used to implement the system.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508760"/>
            <a:ext cx="5440680" cy="1600200"/>
          </a:xfrm>
          <a:prstGeom prst="roundRect">
            <a:avLst/>
          </a:prstGeom>
          <a:solidFill>
            <a:srgbClr val="EBF7ED"/>
          </a:solidFill>
          <a:ln>
            <a:solidFill>
              <a:srgbClr val="227B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428231" y="1673351"/>
            <a:ext cx="566928" cy="566928"/>
          </a:xfrm>
          <a:prstGeom prst="ellipse">
            <a:avLst/>
          </a:prstGeom>
          <a:solidFill>
            <a:srgbClr val="227B4E"/>
          </a:solidFill>
          <a:ln>
            <a:solidFill>
              <a:srgbClr val="227B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37376" y="1700784"/>
            <a:ext cx="548640" cy="45720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ctr">
              <a:defRPr sz="1900" b="1">
                <a:solidFill>
                  <a:srgbClr val="FFFFFF"/>
                </a:solidFill>
                <a:latin typeface="Aptos"/>
              </a:defRPr>
            </a:pPr>
            <a:r>
              <a:t>{}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4888" y="1645919"/>
            <a:ext cx="4453128" cy="32004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>
              <a:defRPr sz="1700" b="1">
                <a:solidFill>
                  <a:srgbClr val="227B4E"/>
                </a:solidFill>
                <a:latin typeface="Aptos"/>
              </a:defRPr>
            </a:pPr>
            <a:r>
              <a:t>Structure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04888" y="1993391"/>
            <a:ext cx="4453128" cy="1033271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>
              <a:defRPr sz="1300" b="0">
                <a:solidFill>
                  <a:srgbClr val="1A222A"/>
                </a:solidFill>
                <a:latin typeface="Aptos"/>
              </a:defRPr>
            </a:pPr>
            <a:r>
              <a:t>Groups ID, name, department, and salary in one record.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429000"/>
            <a:ext cx="5440680" cy="1600200"/>
          </a:xfrm>
          <a:prstGeom prst="roundRect">
            <a:avLst/>
          </a:prstGeom>
          <a:solidFill>
            <a:srgbClr val="FFEEEB"/>
          </a:solidFill>
          <a:ln>
            <a:solidFill>
              <a:srgbClr val="CA3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667512" y="3593592"/>
            <a:ext cx="566928" cy="566928"/>
          </a:xfrm>
          <a:prstGeom prst="ellipse">
            <a:avLst/>
          </a:prstGeom>
          <a:solidFill>
            <a:srgbClr val="CA3E3A"/>
          </a:solidFill>
          <a:ln>
            <a:solidFill>
              <a:srgbClr val="CA3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76656" y="3621024"/>
            <a:ext cx="548640" cy="45720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ctr">
              <a:defRPr sz="1900" b="1">
                <a:solidFill>
                  <a:srgbClr val="FFFFFF"/>
                </a:solidFill>
                <a:latin typeface="Aptos"/>
              </a:defRPr>
            </a:pPr>
            <a:r>
              <a:t>[]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44168" y="3566160"/>
            <a:ext cx="4453128" cy="32004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>
              <a:defRPr sz="1700" b="1">
                <a:solidFill>
                  <a:srgbClr val="CA3E3A"/>
                </a:solidFill>
                <a:latin typeface="Aptos"/>
              </a:defRPr>
            </a:pPr>
            <a:r>
              <a:t>Array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44168" y="3913632"/>
            <a:ext cx="4453128" cy="1033271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>
              <a:defRPr sz="1300" b="0">
                <a:solidFill>
                  <a:srgbClr val="1A222A"/>
                </a:solidFill>
                <a:latin typeface="Aptos"/>
              </a:defRPr>
            </a:pPr>
            <a:r>
              <a:t>Stores up to 100 employee records.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3429000"/>
            <a:ext cx="5440680" cy="1600200"/>
          </a:xfrm>
          <a:prstGeom prst="roundRect">
            <a:avLst/>
          </a:prstGeom>
          <a:solidFill>
            <a:srgbClr val="F5EFFF"/>
          </a:solidFill>
          <a:ln>
            <a:solidFill>
              <a:srgbClr val="704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428231" y="3593592"/>
            <a:ext cx="566928" cy="566928"/>
          </a:xfrm>
          <a:prstGeom prst="ellipse">
            <a:avLst/>
          </a:prstGeom>
          <a:solidFill>
            <a:srgbClr val="704CA0"/>
          </a:solidFill>
          <a:ln>
            <a:solidFill>
              <a:srgbClr val="704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37376" y="3621024"/>
            <a:ext cx="548640" cy="45720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ctr">
              <a:defRPr sz="1900" b="1">
                <a:solidFill>
                  <a:srgbClr val="FFFFFF"/>
                </a:solidFill>
                <a:latin typeface="Aptos"/>
              </a:defRPr>
            </a:pPr>
            <a:r>
              <a:t>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04888" y="3566160"/>
            <a:ext cx="4453128" cy="32004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>
              <a:defRPr sz="1700" b="1">
                <a:solidFill>
                  <a:srgbClr val="704CA0"/>
                </a:solidFill>
                <a:latin typeface="Aptos"/>
              </a:defRPr>
            </a:pPr>
            <a:r>
              <a:t>Algorithms &amp; Files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04888" y="3913632"/>
            <a:ext cx="4453128" cy="1033271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>
              <a:defRPr sz="1300" b="0">
                <a:solidFill>
                  <a:srgbClr val="1A222A"/>
                </a:solidFill>
                <a:latin typeface="Aptos"/>
              </a:defRPr>
            </a:pPr>
            <a:r>
              <a:t>Linear Search, Bubble Sort, and file handling with emp.txt.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5440680"/>
            <a:ext cx="10789920" cy="45720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ctr">
              <a:defRPr sz="1500" b="1">
                <a:solidFill>
                  <a:srgbClr val="143559"/>
                </a:solidFill>
                <a:latin typeface="Aptos"/>
              </a:defRPr>
            </a:pPr>
            <a:r>
              <a:t>Key functions include findEmployeeById(), sortemp(), saveRecords(), and loadRecords().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43559"/>
          </a:solidFill>
          <a:ln>
            <a:solidFill>
              <a:srgbClr val="1435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0698480" cy="658368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ptos"/>
              </a:defRPr>
            </a:pPr>
            <a:r>
              <a:t>SYSTEM FEATURES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11109960" y="0"/>
            <a:ext cx="411480" cy="914400"/>
          </a:xfrm>
          <a:prstGeom prst="rect">
            <a:avLst/>
          </a:prstGeom>
          <a:solidFill>
            <a:srgbClr val="2667A6"/>
          </a:solidFill>
          <a:ln>
            <a:solidFill>
              <a:srgbClr val="266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1539728" y="0"/>
            <a:ext cx="292608" cy="914400"/>
          </a:xfrm>
          <a:prstGeom prst="rect">
            <a:avLst/>
          </a:prstGeom>
          <a:solidFill>
            <a:srgbClr val="368BCF"/>
          </a:solidFill>
          <a:ln>
            <a:solidFill>
              <a:srgbClr val="368B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61320" y="6473952"/>
            <a:ext cx="1143000" cy="22860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r">
              <a:defRPr sz="1100" b="1">
                <a:solidFill>
                  <a:srgbClr val="5F6973"/>
                </a:solidFill>
                <a:latin typeface="Aptos"/>
              </a:defRPr>
            </a:pPr>
            <a:r>
              <a:t>TEAM-7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2011680" cy="22860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>
              <a:defRPr sz="900" b="0">
                <a:solidFill>
                  <a:srgbClr val="5F6973"/>
                </a:solidFill>
                <a:latin typeface="Aptos"/>
              </a:defRPr>
            </a:pPr>
            <a:r>
              <a:t>EMPLOYEE RECORD SYSTEM  |  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17320"/>
            <a:ext cx="5440680" cy="1115568"/>
          </a:xfrm>
          <a:prstGeom prst="roundRect">
            <a:avLst/>
          </a:prstGeom>
          <a:solidFill>
            <a:srgbClr val="E8F3FD"/>
          </a:solidFill>
          <a:ln>
            <a:solidFill>
              <a:srgbClr val="266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667512" y="1581912"/>
            <a:ext cx="566928" cy="566928"/>
          </a:xfrm>
          <a:prstGeom prst="ellipse">
            <a:avLst/>
          </a:prstGeom>
          <a:solidFill>
            <a:srgbClr val="2667A6"/>
          </a:solidFill>
          <a:ln>
            <a:solidFill>
              <a:srgbClr val="266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76656" y="1609344"/>
            <a:ext cx="548640" cy="45720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ctr">
              <a:defRPr sz="1900" b="1">
                <a:solidFill>
                  <a:srgbClr val="FFFFFF"/>
                </a:solidFill>
                <a:latin typeface="Aptos"/>
              </a:defRPr>
            </a:pPr>
            <a:r>
              <a:t>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1554480"/>
            <a:ext cx="4453128" cy="32004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>
              <a:defRPr sz="1700" b="1">
                <a:solidFill>
                  <a:srgbClr val="2667A6"/>
                </a:solidFill>
                <a:latin typeface="Aptos"/>
              </a:defRPr>
            </a:pPr>
            <a:r>
              <a:t>Add Employee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44168" y="1901952"/>
            <a:ext cx="4453128" cy="54864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>
              <a:defRPr sz="1300" b="0">
                <a:solidFill>
                  <a:srgbClr val="1A222A"/>
                </a:solidFill>
                <a:latin typeface="Aptos"/>
              </a:defRPr>
            </a:pPr>
            <a:r>
              <a:t>Enter ID, name, department, and salary.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59" y="1417320"/>
            <a:ext cx="5440680" cy="1115568"/>
          </a:xfrm>
          <a:prstGeom prst="roundRect">
            <a:avLst/>
          </a:prstGeom>
          <a:solidFill>
            <a:srgbClr val="EBF7ED"/>
          </a:solidFill>
          <a:ln>
            <a:solidFill>
              <a:srgbClr val="227B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473951" y="1581912"/>
            <a:ext cx="566928" cy="566928"/>
          </a:xfrm>
          <a:prstGeom prst="ellipse">
            <a:avLst/>
          </a:prstGeom>
          <a:solidFill>
            <a:srgbClr val="227B4E"/>
          </a:solidFill>
          <a:ln>
            <a:solidFill>
              <a:srgbClr val="227B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83096" y="1609344"/>
            <a:ext cx="548640" cy="45720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ctr">
              <a:defRPr sz="1900" b="1">
                <a:solidFill>
                  <a:srgbClr val="FFFFFF"/>
                </a:solidFill>
                <a:latin typeface="Aptos"/>
              </a:defRPr>
            </a:pPr>
            <a:r>
              <a:t>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50607" y="1554480"/>
            <a:ext cx="4453128" cy="32004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>
              <a:defRPr sz="1700" b="1">
                <a:solidFill>
                  <a:srgbClr val="227B4E"/>
                </a:solidFill>
                <a:latin typeface="Aptos"/>
              </a:defRPr>
            </a:pPr>
            <a:r>
              <a:t>Display Records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50607" y="1901952"/>
            <a:ext cx="4453128" cy="54864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>
              <a:defRPr sz="1300" b="0">
                <a:solidFill>
                  <a:srgbClr val="1A222A"/>
                </a:solidFill>
                <a:latin typeface="Aptos"/>
              </a:defRPr>
            </a:pPr>
            <a:r>
              <a:t>View all stored employee details.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2770632"/>
            <a:ext cx="5440680" cy="1115568"/>
          </a:xfrm>
          <a:prstGeom prst="roundRect">
            <a:avLst/>
          </a:prstGeom>
          <a:solidFill>
            <a:srgbClr val="FFEEEB"/>
          </a:solidFill>
          <a:ln>
            <a:solidFill>
              <a:srgbClr val="CA3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667512" y="2935224"/>
            <a:ext cx="566928" cy="566928"/>
          </a:xfrm>
          <a:prstGeom prst="ellipse">
            <a:avLst/>
          </a:prstGeom>
          <a:solidFill>
            <a:srgbClr val="CA3E3A"/>
          </a:solidFill>
          <a:ln>
            <a:solidFill>
              <a:srgbClr val="CA3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76656" y="2962656"/>
            <a:ext cx="548640" cy="45720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ctr">
              <a:defRPr sz="1900" b="1">
                <a:solidFill>
                  <a:srgbClr val="FFFFFF"/>
                </a:solidFill>
                <a:latin typeface="Aptos"/>
              </a:defRPr>
            </a:pPr>
            <a:r>
              <a:t>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44168" y="2907792"/>
            <a:ext cx="4453128" cy="32004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>
              <a:defRPr sz="1700" b="1">
                <a:solidFill>
                  <a:srgbClr val="CA3E3A"/>
                </a:solidFill>
                <a:latin typeface="Aptos"/>
              </a:defRPr>
            </a:pPr>
            <a:r>
              <a:t>Search Employee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44168" y="3255264"/>
            <a:ext cx="4453128" cy="54864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>
              <a:defRPr sz="1300" b="0">
                <a:solidFill>
                  <a:srgbClr val="1A222A"/>
                </a:solidFill>
                <a:latin typeface="Aptos"/>
              </a:defRPr>
            </a:pPr>
            <a:r>
              <a:t>Find records by ID or name.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59" y="2770632"/>
            <a:ext cx="5440680" cy="1115568"/>
          </a:xfrm>
          <a:prstGeom prst="roundRect">
            <a:avLst/>
          </a:prstGeom>
          <a:solidFill>
            <a:srgbClr val="F5EFFF"/>
          </a:solidFill>
          <a:ln>
            <a:solidFill>
              <a:srgbClr val="704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473951" y="2935224"/>
            <a:ext cx="566928" cy="566928"/>
          </a:xfrm>
          <a:prstGeom prst="ellipse">
            <a:avLst/>
          </a:prstGeom>
          <a:solidFill>
            <a:srgbClr val="704CA0"/>
          </a:solidFill>
          <a:ln>
            <a:solidFill>
              <a:srgbClr val="704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83096" y="2962656"/>
            <a:ext cx="548640" cy="45720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ctr">
              <a:defRPr sz="1900" b="1">
                <a:solidFill>
                  <a:srgbClr val="FFFFFF"/>
                </a:solidFill>
                <a:latin typeface="Aptos"/>
              </a:defRPr>
            </a:pPr>
            <a:r>
              <a:t>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50607" y="2907792"/>
            <a:ext cx="4453128" cy="32004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>
              <a:defRPr sz="1700" b="1">
                <a:solidFill>
                  <a:srgbClr val="704CA0"/>
                </a:solidFill>
                <a:latin typeface="Aptos"/>
              </a:defRPr>
            </a:pPr>
            <a:r>
              <a:t>Sort Records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50607" y="3255264"/>
            <a:ext cx="4453128" cy="54864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>
              <a:defRPr sz="1300" b="0">
                <a:solidFill>
                  <a:srgbClr val="1A222A"/>
                </a:solidFill>
                <a:latin typeface="Aptos"/>
              </a:defRPr>
            </a:pPr>
            <a:r>
              <a:t>Sort by ID, name, or salary.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4123944"/>
            <a:ext cx="5440680" cy="1115568"/>
          </a:xfrm>
          <a:prstGeom prst="roundRect">
            <a:avLst/>
          </a:prstGeom>
          <a:solidFill>
            <a:srgbClr val="E8F3FD"/>
          </a:solidFill>
          <a:ln>
            <a:solidFill>
              <a:srgbClr val="266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667512" y="4288536"/>
            <a:ext cx="566928" cy="566928"/>
          </a:xfrm>
          <a:prstGeom prst="ellipse">
            <a:avLst/>
          </a:prstGeom>
          <a:solidFill>
            <a:srgbClr val="2667A6"/>
          </a:solidFill>
          <a:ln>
            <a:solidFill>
              <a:srgbClr val="266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76656" y="4315968"/>
            <a:ext cx="548640" cy="45720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ctr">
              <a:defRPr sz="1900" b="1">
                <a:solidFill>
                  <a:srgbClr val="FFFFFF"/>
                </a:solidFill>
                <a:latin typeface="Aptos"/>
              </a:defRPr>
            </a:pPr>
            <a:r>
              <a:t>✎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4261104"/>
            <a:ext cx="4453128" cy="32004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>
              <a:defRPr sz="1700" b="1">
                <a:solidFill>
                  <a:srgbClr val="2667A6"/>
                </a:solidFill>
                <a:latin typeface="Aptos"/>
              </a:defRPr>
            </a:pPr>
            <a:r>
              <a:t>Update Employee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44168" y="4608576"/>
            <a:ext cx="4453128" cy="54864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>
              <a:defRPr sz="1300" b="0">
                <a:solidFill>
                  <a:srgbClr val="1A222A"/>
                </a:solidFill>
                <a:latin typeface="Aptos"/>
              </a:defRPr>
            </a:pPr>
            <a:r>
              <a:t>Modify name, department, or salary.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09359" y="4123944"/>
            <a:ext cx="5440680" cy="1115568"/>
          </a:xfrm>
          <a:prstGeom prst="roundRect">
            <a:avLst/>
          </a:prstGeom>
          <a:solidFill>
            <a:srgbClr val="EBF7ED"/>
          </a:solidFill>
          <a:ln>
            <a:solidFill>
              <a:srgbClr val="227B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6473951" y="4288536"/>
            <a:ext cx="566928" cy="566928"/>
          </a:xfrm>
          <a:prstGeom prst="ellipse">
            <a:avLst/>
          </a:prstGeom>
          <a:solidFill>
            <a:srgbClr val="227B4E"/>
          </a:solidFill>
          <a:ln>
            <a:solidFill>
              <a:srgbClr val="227B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83096" y="4315968"/>
            <a:ext cx="548640" cy="45720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ctr">
              <a:defRPr sz="1900" b="1">
                <a:solidFill>
                  <a:srgbClr val="FFFFFF"/>
                </a:solidFill>
                <a:latin typeface="Aptos"/>
              </a:defRPr>
            </a:pPr>
            <a:r>
              <a:t>×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50607" y="4261104"/>
            <a:ext cx="4453128" cy="32004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>
              <a:defRPr sz="1700" b="1">
                <a:solidFill>
                  <a:srgbClr val="227B4E"/>
                </a:solidFill>
                <a:latin typeface="Aptos"/>
              </a:defRPr>
            </a:pPr>
            <a:r>
              <a:t>Delete Employee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50607" y="4608576"/>
            <a:ext cx="4453128" cy="54864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>
              <a:defRPr sz="1300" b="0">
                <a:solidFill>
                  <a:srgbClr val="1A222A"/>
                </a:solidFill>
                <a:latin typeface="Aptos"/>
              </a:defRPr>
            </a:pPr>
            <a:r>
              <a:t>Remove a record using its ID.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97280" y="5650992"/>
            <a:ext cx="9966960" cy="438912"/>
          </a:xfrm>
          <a:prstGeom prst="roundRect">
            <a:avLst/>
          </a:prstGeom>
          <a:solidFill>
            <a:srgbClr val="F6F8FA"/>
          </a:solidFill>
          <a:ln>
            <a:solidFill>
              <a:srgbClr val="BEC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234440" y="5696712"/>
            <a:ext cx="9692640" cy="292608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ctr">
              <a:defRPr sz="1500" b="1">
                <a:solidFill>
                  <a:srgbClr val="143559"/>
                </a:solidFill>
                <a:latin typeface="Aptos"/>
              </a:defRPr>
            </a:pPr>
            <a:r>
              <a:t>Save &amp; Load: Employee records are stored in emp.txt.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43559"/>
          </a:solidFill>
          <a:ln>
            <a:solidFill>
              <a:srgbClr val="1435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0698480" cy="658368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ptos"/>
              </a:defRPr>
            </a:pPr>
            <a:r>
              <a:t>SEARCHING ALGORITHMS</a:t>
            </a:r>
          </a:p>
        </p:txBody>
      </p:sp>
      <p:sp>
        <p:nvSpPr>
          <p:cNvPr id="4" name="Rectangle 3"/>
          <p:cNvSpPr/>
          <p:nvPr/>
        </p:nvSpPr>
        <p:spPr>
          <a:xfrm>
            <a:off x="11109960" y="0"/>
            <a:ext cx="411480" cy="914400"/>
          </a:xfrm>
          <a:prstGeom prst="rect">
            <a:avLst/>
          </a:prstGeom>
          <a:solidFill>
            <a:srgbClr val="2667A6"/>
          </a:solidFill>
          <a:ln>
            <a:solidFill>
              <a:srgbClr val="266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1539728" y="0"/>
            <a:ext cx="292608" cy="914400"/>
          </a:xfrm>
          <a:prstGeom prst="rect">
            <a:avLst/>
          </a:prstGeom>
          <a:solidFill>
            <a:srgbClr val="368BCF"/>
          </a:solidFill>
          <a:ln>
            <a:solidFill>
              <a:srgbClr val="368B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61320" y="6473952"/>
            <a:ext cx="1143000" cy="22860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r">
              <a:defRPr sz="1100" b="1">
                <a:solidFill>
                  <a:srgbClr val="5F6973"/>
                </a:solidFill>
                <a:latin typeface="Aptos"/>
              </a:defRPr>
            </a:pPr>
            <a:r>
              <a:t>TEAM-7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2011680" cy="22860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>
              <a:defRPr sz="900" b="0">
                <a:solidFill>
                  <a:srgbClr val="5F6973"/>
                </a:solidFill>
                <a:latin typeface="Aptos"/>
              </a:defRPr>
            </a:pPr>
            <a:r>
              <a:t>EMPLOYEE RECORD SYSTEM  |  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508760"/>
            <a:ext cx="5303520" cy="1554480"/>
          </a:xfrm>
          <a:prstGeom prst="roundRect">
            <a:avLst/>
          </a:prstGeom>
          <a:solidFill>
            <a:srgbClr val="E8F3FD"/>
          </a:solidFill>
          <a:ln>
            <a:solidFill>
              <a:srgbClr val="266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58952" y="1673351"/>
            <a:ext cx="566928" cy="566928"/>
          </a:xfrm>
          <a:prstGeom prst="ellipse">
            <a:avLst/>
          </a:prstGeom>
          <a:solidFill>
            <a:srgbClr val="2667A6"/>
          </a:solidFill>
          <a:ln>
            <a:solidFill>
              <a:srgbClr val="266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8096" y="1700784"/>
            <a:ext cx="548640" cy="45720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ctr">
              <a:defRPr sz="1900" b="1">
                <a:solidFill>
                  <a:srgbClr val="FFFFFF"/>
                </a:solidFill>
                <a:latin typeface="Aptos"/>
              </a:defRPr>
            </a:pPr>
            <a:r>
              <a:t>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35608" y="1645919"/>
            <a:ext cx="4315968" cy="32004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>
              <a:defRPr sz="1700" b="1">
                <a:solidFill>
                  <a:srgbClr val="2667A6"/>
                </a:solidFill>
                <a:latin typeface="Aptos"/>
              </a:defRPr>
            </a:pPr>
            <a:r>
              <a:t>Search by 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35608" y="1993391"/>
            <a:ext cx="4315968" cy="987552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>
              <a:defRPr sz="1300" b="0">
                <a:solidFill>
                  <a:srgbClr val="1A222A"/>
                </a:solidFill>
                <a:latin typeface="Aptos"/>
              </a:defRPr>
            </a:pPr>
            <a:r>
              <a:t>findEmployeeById() checks IDs one by one.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508760"/>
            <a:ext cx="5303520" cy="1554480"/>
          </a:xfrm>
          <a:prstGeom prst="roundRect">
            <a:avLst/>
          </a:prstGeom>
          <a:solidFill>
            <a:srgbClr val="EBF7ED"/>
          </a:solidFill>
          <a:ln>
            <a:solidFill>
              <a:srgbClr val="227B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428231" y="1673351"/>
            <a:ext cx="566928" cy="566928"/>
          </a:xfrm>
          <a:prstGeom prst="ellipse">
            <a:avLst/>
          </a:prstGeom>
          <a:solidFill>
            <a:srgbClr val="227B4E"/>
          </a:solidFill>
          <a:ln>
            <a:solidFill>
              <a:srgbClr val="227B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37376" y="1700784"/>
            <a:ext cx="548640" cy="45720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ctr">
              <a:defRPr sz="1900" b="1">
                <a:solidFill>
                  <a:srgbClr val="FFFFFF"/>
                </a:solidFill>
                <a:latin typeface="Aptos"/>
              </a:defRPr>
            </a:pPr>
            <a:r>
              <a:t>Aa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4888" y="1645919"/>
            <a:ext cx="4315968" cy="32004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>
              <a:defRPr sz="1700" b="1">
                <a:solidFill>
                  <a:srgbClr val="227B4E"/>
                </a:solidFill>
                <a:latin typeface="Aptos"/>
              </a:defRPr>
            </a:pPr>
            <a:r>
              <a:t>Search by Name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04888" y="1993391"/>
            <a:ext cx="4315968" cy="987552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>
              <a:defRPr sz="1300" b="0">
                <a:solidFill>
                  <a:srgbClr val="1A222A"/>
                </a:solidFill>
                <a:latin typeface="Aptos"/>
              </a:defRPr>
            </a:pPr>
            <a:r>
              <a:t>strcmp() compares the entered name with stored names.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520440"/>
            <a:ext cx="10744200" cy="2240280"/>
          </a:xfrm>
          <a:prstGeom prst="roundRect">
            <a:avLst/>
          </a:prstGeom>
          <a:solidFill>
            <a:srgbClr val="F6F8FA"/>
          </a:solidFill>
          <a:ln>
            <a:solidFill>
              <a:srgbClr val="266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051560" y="3355848"/>
            <a:ext cx="10104120" cy="438912"/>
          </a:xfrm>
          <a:prstGeom prst="roundRect">
            <a:avLst/>
          </a:prstGeom>
          <a:solidFill>
            <a:srgbClr val="2667A6"/>
          </a:solidFill>
          <a:ln>
            <a:solidFill>
              <a:srgbClr val="266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97280" y="3392424"/>
            <a:ext cx="10012680" cy="347472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LINEAR SEARCH PROCEDURE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0120" y="4343400"/>
            <a:ext cx="22402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B4C6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33272" y="4434840"/>
            <a:ext cx="2084831" cy="566928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ctr">
              <a:defRPr sz="1300" b="1">
                <a:solidFill>
                  <a:srgbClr val="1A222A"/>
                </a:solidFill>
                <a:latin typeface="Aptos"/>
              </a:defRPr>
            </a:pPr>
            <a:r>
              <a:t>1. Start at first record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593591" y="4343400"/>
            <a:ext cx="22402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B4C6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666744" y="4434840"/>
            <a:ext cx="2084831" cy="566928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ctr">
              <a:defRPr sz="1300" b="1">
                <a:solidFill>
                  <a:srgbClr val="1A222A"/>
                </a:solidFill>
                <a:latin typeface="Aptos"/>
              </a:defRPr>
            </a:pPr>
            <a:r>
              <a:t>2. Compare ID or name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27064" y="4343400"/>
            <a:ext cx="22402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B4C6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300216" y="4434840"/>
            <a:ext cx="2084831" cy="566928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ctr">
              <a:defRPr sz="1300" b="1">
                <a:solidFill>
                  <a:srgbClr val="1A222A"/>
                </a:solidFill>
                <a:latin typeface="Aptos"/>
              </a:defRPr>
            </a:pPr>
            <a:r>
              <a:t>3. If matched, display record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860536" y="4343400"/>
            <a:ext cx="22402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B4C6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933688" y="4434840"/>
            <a:ext cx="2084831" cy="566928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ctr">
              <a:defRPr sz="1300" b="1">
                <a:solidFill>
                  <a:srgbClr val="1A222A"/>
                </a:solidFill>
                <a:latin typeface="Aptos"/>
              </a:defRPr>
            </a:pPr>
            <a:r>
              <a:t>4. If no match, report not found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17520" y="5897880"/>
            <a:ext cx="6217920" cy="27432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ctr">
              <a:defRPr sz="1600" b="1">
                <a:solidFill>
                  <a:srgbClr val="143559"/>
                </a:solidFill>
                <a:latin typeface="Aptos"/>
              </a:defRPr>
            </a:pPr>
            <a:r>
              <a:t>Time Complexity: O(n)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43559"/>
          </a:solidFill>
          <a:ln>
            <a:solidFill>
              <a:srgbClr val="1435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0698480" cy="658368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ptos"/>
              </a:defRPr>
            </a:pPr>
            <a:r>
              <a:t>BUBBLE SORT ALGORITHM</a:t>
            </a:r>
          </a:p>
        </p:txBody>
      </p:sp>
      <p:sp>
        <p:nvSpPr>
          <p:cNvPr id="4" name="Rectangle 3"/>
          <p:cNvSpPr/>
          <p:nvPr/>
        </p:nvSpPr>
        <p:spPr>
          <a:xfrm>
            <a:off x="11109960" y="0"/>
            <a:ext cx="411480" cy="914400"/>
          </a:xfrm>
          <a:prstGeom prst="rect">
            <a:avLst/>
          </a:prstGeom>
          <a:solidFill>
            <a:srgbClr val="2667A6"/>
          </a:solidFill>
          <a:ln>
            <a:solidFill>
              <a:srgbClr val="266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1539728" y="0"/>
            <a:ext cx="292608" cy="914400"/>
          </a:xfrm>
          <a:prstGeom prst="rect">
            <a:avLst/>
          </a:prstGeom>
          <a:solidFill>
            <a:srgbClr val="368BCF"/>
          </a:solidFill>
          <a:ln>
            <a:solidFill>
              <a:srgbClr val="368B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61320" y="6473952"/>
            <a:ext cx="1143000" cy="22860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r">
              <a:defRPr sz="1100" b="1">
                <a:solidFill>
                  <a:srgbClr val="5F6973"/>
                </a:solidFill>
                <a:latin typeface="Aptos"/>
              </a:defRPr>
            </a:pPr>
            <a:r>
              <a:t>TEAM-7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2011680" cy="22860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>
              <a:defRPr sz="900" b="0">
                <a:solidFill>
                  <a:srgbClr val="5F6973"/>
                </a:solidFill>
                <a:latin typeface="Aptos"/>
              </a:defRPr>
            </a:pPr>
            <a:r>
              <a:t>EMPLOYEE RECORD SYSTEM  | 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325880"/>
            <a:ext cx="10881360" cy="45720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ctr">
              <a:defRPr sz="2000" b="1">
                <a:solidFill>
                  <a:srgbClr val="1A222A"/>
                </a:solidFill>
                <a:latin typeface="Aptos"/>
              </a:defRPr>
            </a:pPr>
            <a:r>
              <a:t>Bubble Sort arranges employee records in ascending order.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2011680"/>
            <a:ext cx="2880360" cy="658368"/>
          </a:xfrm>
          <a:prstGeom prst="roundRect">
            <a:avLst/>
          </a:prstGeom>
          <a:solidFill>
            <a:srgbClr val="2667A6"/>
          </a:solidFill>
          <a:ln>
            <a:solidFill>
              <a:srgbClr val="266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43000" y="2121408"/>
            <a:ext cx="2697480" cy="41148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Employee ID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2011680"/>
            <a:ext cx="2880360" cy="658368"/>
          </a:xfrm>
          <a:prstGeom prst="roundRect">
            <a:avLst/>
          </a:prstGeom>
          <a:solidFill>
            <a:srgbClr val="227B4E"/>
          </a:solidFill>
          <a:ln>
            <a:solidFill>
              <a:srgbClr val="227B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63440" y="2121408"/>
            <a:ext cx="2697480" cy="41148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Employee Name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2011680"/>
            <a:ext cx="2880360" cy="658368"/>
          </a:xfrm>
          <a:prstGeom prst="roundRect">
            <a:avLst/>
          </a:prstGeom>
          <a:solidFill>
            <a:srgbClr val="CA3E3A"/>
          </a:solidFill>
          <a:ln>
            <a:solidFill>
              <a:srgbClr val="CA3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183879" y="2121408"/>
            <a:ext cx="2697480" cy="41148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Salary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154680"/>
            <a:ext cx="6400800" cy="2468880"/>
          </a:xfrm>
          <a:prstGeom prst="roundRect">
            <a:avLst/>
          </a:prstGeom>
          <a:solidFill>
            <a:srgbClr val="E8F3FD"/>
          </a:solidFill>
          <a:ln>
            <a:solidFill>
              <a:srgbClr val="266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05840" y="2990088"/>
            <a:ext cx="5760720" cy="438912"/>
          </a:xfrm>
          <a:prstGeom prst="roundRect">
            <a:avLst/>
          </a:prstGeom>
          <a:solidFill>
            <a:srgbClr val="2667A6"/>
          </a:solidFill>
          <a:ln>
            <a:solidFill>
              <a:srgbClr val="266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51560" y="3026664"/>
            <a:ext cx="5669280" cy="347472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WORKING PROCEDURE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3794760"/>
            <a:ext cx="228600" cy="32004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>
              <a:defRPr sz="2200" b="1">
                <a:solidFill>
                  <a:srgbClr val="CA3E3A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3794760"/>
            <a:ext cx="5458968" cy="512064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>
              <a:defRPr sz="1500" b="0">
                <a:solidFill>
                  <a:srgbClr val="1A222A"/>
                </a:solidFill>
                <a:latin typeface="Aptos"/>
              </a:defRPr>
            </a:pPr>
            <a:r>
              <a:t>Compare adjacent employee records.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361688"/>
            <a:ext cx="228600" cy="32004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>
              <a:defRPr sz="2200" b="1">
                <a:solidFill>
                  <a:srgbClr val="CA3E3A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4361688"/>
            <a:ext cx="5458968" cy="512064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>
              <a:defRPr sz="1500" b="0">
                <a:solidFill>
                  <a:srgbClr val="1A222A"/>
                </a:solidFill>
                <a:latin typeface="Aptos"/>
              </a:defRPr>
            </a:pPr>
            <a:r>
              <a:t>Swap when records are in the wrong order.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4928616"/>
            <a:ext cx="228600" cy="32004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>
              <a:defRPr sz="2200" b="1">
                <a:solidFill>
                  <a:srgbClr val="CA3E3A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4928616"/>
            <a:ext cx="5458968" cy="512064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>
              <a:defRPr sz="1500" b="0">
                <a:solidFill>
                  <a:srgbClr val="1A222A"/>
                </a:solidFill>
                <a:latin typeface="Aptos"/>
              </a:defRPr>
            </a:pPr>
            <a:r>
              <a:t>Repeat until the records are sorted.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06640" y="3154680"/>
            <a:ext cx="4069080" cy="2468880"/>
          </a:xfrm>
          <a:prstGeom prst="roundRect">
            <a:avLst/>
          </a:prstGeom>
          <a:solidFill>
            <a:srgbClr val="FFEEEB"/>
          </a:solidFill>
          <a:ln>
            <a:solidFill>
              <a:srgbClr val="CA3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7726679" y="2990088"/>
            <a:ext cx="3429000" cy="438912"/>
          </a:xfrm>
          <a:prstGeom prst="roundRect">
            <a:avLst/>
          </a:prstGeom>
          <a:solidFill>
            <a:srgbClr val="CA3E3A"/>
          </a:solidFill>
          <a:ln>
            <a:solidFill>
              <a:srgbClr val="CA3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772400" y="3026664"/>
            <a:ext cx="3337560" cy="347472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COMPLEXITY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35240" y="3977639"/>
            <a:ext cx="3611880" cy="50292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ctr">
              <a:defRPr sz="2700" b="1">
                <a:solidFill>
                  <a:srgbClr val="CA3E3A"/>
                </a:solidFill>
                <a:latin typeface="Aptos"/>
              </a:defRPr>
            </a:pPr>
            <a:r>
              <a:t>O(n²)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60" y="4572000"/>
            <a:ext cx="3520440" cy="59436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ctr">
              <a:defRPr sz="1500" b="0">
                <a:solidFill>
                  <a:srgbClr val="1A222A"/>
                </a:solidFill>
                <a:latin typeface="Aptos"/>
              </a:defRPr>
            </a:pPr>
            <a:r>
              <a:t>Typical time complexity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43559"/>
          </a:solidFill>
          <a:ln>
            <a:solidFill>
              <a:srgbClr val="1435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0698480" cy="658368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ptos"/>
              </a:defRPr>
            </a:pPr>
            <a:r>
              <a:t>FILE HANDLING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11109960" y="0"/>
            <a:ext cx="411480" cy="914400"/>
          </a:xfrm>
          <a:prstGeom prst="rect">
            <a:avLst/>
          </a:prstGeom>
          <a:solidFill>
            <a:srgbClr val="2667A6"/>
          </a:solidFill>
          <a:ln>
            <a:solidFill>
              <a:srgbClr val="266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1539728" y="0"/>
            <a:ext cx="292608" cy="914400"/>
          </a:xfrm>
          <a:prstGeom prst="rect">
            <a:avLst/>
          </a:prstGeom>
          <a:solidFill>
            <a:srgbClr val="368BCF"/>
          </a:solidFill>
          <a:ln>
            <a:solidFill>
              <a:srgbClr val="368B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61320" y="6473952"/>
            <a:ext cx="1143000" cy="22860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r">
              <a:defRPr sz="1100" b="1">
                <a:solidFill>
                  <a:srgbClr val="5F6973"/>
                </a:solidFill>
                <a:latin typeface="Aptos"/>
              </a:defRPr>
            </a:pPr>
            <a:r>
              <a:t>TEAM-7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2011680" cy="22860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>
              <a:defRPr sz="900" b="0">
                <a:solidFill>
                  <a:srgbClr val="5F6973"/>
                </a:solidFill>
                <a:latin typeface="Aptos"/>
              </a:defRPr>
            </a:pPr>
            <a:r>
              <a:t>EMPLOYEE RECORD SYSTEM  |  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977639" y="1417320"/>
            <a:ext cx="4206240" cy="822960"/>
          </a:xfrm>
          <a:prstGeom prst="roundRect">
            <a:avLst/>
          </a:prstGeom>
          <a:solidFill>
            <a:srgbClr val="143559"/>
          </a:solidFill>
          <a:ln>
            <a:solidFill>
              <a:srgbClr val="1435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0" y="1572768"/>
            <a:ext cx="3931920" cy="45720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t>emp.txt  |  Employee Data File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743200"/>
            <a:ext cx="5212080" cy="1600200"/>
          </a:xfrm>
          <a:prstGeom prst="roundRect">
            <a:avLst/>
          </a:prstGeom>
          <a:solidFill>
            <a:srgbClr val="E8F3FD"/>
          </a:solidFill>
          <a:ln>
            <a:solidFill>
              <a:srgbClr val="266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850392" y="2907792"/>
            <a:ext cx="566928" cy="566928"/>
          </a:xfrm>
          <a:prstGeom prst="ellipse">
            <a:avLst/>
          </a:prstGeom>
          <a:solidFill>
            <a:srgbClr val="2667A6"/>
          </a:solidFill>
          <a:ln>
            <a:solidFill>
              <a:srgbClr val="266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9536" y="2935224"/>
            <a:ext cx="548640" cy="45720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ctr">
              <a:defRPr sz="1900" b="1">
                <a:solidFill>
                  <a:srgbClr val="FFFFFF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27048" y="2880360"/>
            <a:ext cx="4224528" cy="32004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>
              <a:defRPr sz="1700" b="1">
                <a:solidFill>
                  <a:srgbClr val="2667A6"/>
                </a:solidFill>
                <a:latin typeface="Aptos"/>
              </a:defRPr>
            </a:pPr>
            <a:r>
              <a:t>Save Records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7048" y="3227832"/>
            <a:ext cx="4224528" cy="1033271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>
              <a:defRPr sz="1300" b="0">
                <a:solidFill>
                  <a:srgbClr val="1A222A"/>
                </a:solidFill>
                <a:latin typeface="Aptos"/>
              </a:defRPr>
            </a:pPr>
            <a:r>
              <a:t>saveRecords() writes employee details using fprintf().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2743200"/>
            <a:ext cx="5212080" cy="1600200"/>
          </a:xfrm>
          <a:prstGeom prst="roundRect">
            <a:avLst/>
          </a:prstGeom>
          <a:solidFill>
            <a:srgbClr val="EBF7ED"/>
          </a:solidFill>
          <a:ln>
            <a:solidFill>
              <a:srgbClr val="227B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6473952" y="2907792"/>
            <a:ext cx="566928" cy="566928"/>
          </a:xfrm>
          <a:prstGeom prst="ellipse">
            <a:avLst/>
          </a:prstGeom>
          <a:solidFill>
            <a:srgbClr val="227B4E"/>
          </a:solidFill>
          <a:ln>
            <a:solidFill>
              <a:srgbClr val="227B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83096" y="2935224"/>
            <a:ext cx="548640" cy="45720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ctr">
              <a:defRPr sz="1900" b="1">
                <a:solidFill>
                  <a:srgbClr val="FFFFFF"/>
                </a:solidFill>
                <a:latin typeface="Aptos"/>
              </a:defRPr>
            </a:pPr>
            <a:r>
              <a:t>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50608" y="2880360"/>
            <a:ext cx="4224528" cy="32004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>
              <a:defRPr sz="1700" b="1">
                <a:solidFill>
                  <a:srgbClr val="227B4E"/>
                </a:solidFill>
                <a:latin typeface="Aptos"/>
              </a:defRPr>
            </a:pPr>
            <a:r>
              <a:t>Load Records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50608" y="3227832"/>
            <a:ext cx="4224528" cy="1033271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>
              <a:defRPr sz="1300" b="0">
                <a:solidFill>
                  <a:srgbClr val="1A222A"/>
                </a:solidFill>
                <a:latin typeface="Aptos"/>
              </a:defRPr>
            </a:pPr>
            <a:r>
              <a:t>loadRecords() reads saved data using fgets() and sscanf().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892040"/>
            <a:ext cx="10607040" cy="41148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ctr">
              <a:defRPr sz="1700" b="1">
                <a:solidFill>
                  <a:srgbClr val="1A222A"/>
                </a:solidFill>
                <a:latin typeface="Aptos"/>
              </a:defRPr>
            </a:pPr>
            <a:r>
              <a:t>Records load when the program starts and are saved when requested or on exit.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577840"/>
            <a:ext cx="10424160" cy="32004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ctr">
              <a:defRPr sz="1500" b="0">
                <a:solidFill>
                  <a:srgbClr val="5F6973"/>
                </a:solidFill>
                <a:latin typeface="Aptos"/>
              </a:defRPr>
            </a:pPr>
            <a:r>
              <a:t>File operations include fopen() and fclose().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43559"/>
          </a:solidFill>
          <a:ln>
            <a:solidFill>
              <a:srgbClr val="1435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0698480" cy="658368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ptos"/>
              </a:defRPr>
            </a:pPr>
            <a:r>
              <a:t>PROGRAM WORKFLOW &amp; SAMPLE OUTPUT</a:t>
            </a:r>
          </a:p>
        </p:txBody>
      </p:sp>
      <p:sp>
        <p:nvSpPr>
          <p:cNvPr id="4" name="Rectangle 3"/>
          <p:cNvSpPr/>
          <p:nvPr/>
        </p:nvSpPr>
        <p:spPr>
          <a:xfrm>
            <a:off x="11109960" y="0"/>
            <a:ext cx="411480" cy="914400"/>
          </a:xfrm>
          <a:prstGeom prst="rect">
            <a:avLst/>
          </a:prstGeom>
          <a:solidFill>
            <a:srgbClr val="2667A6"/>
          </a:solidFill>
          <a:ln>
            <a:solidFill>
              <a:srgbClr val="266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1539728" y="0"/>
            <a:ext cx="292608" cy="914400"/>
          </a:xfrm>
          <a:prstGeom prst="rect">
            <a:avLst/>
          </a:prstGeom>
          <a:solidFill>
            <a:srgbClr val="368BCF"/>
          </a:solidFill>
          <a:ln>
            <a:solidFill>
              <a:srgbClr val="368B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61320" y="6473952"/>
            <a:ext cx="1143000" cy="22860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r">
              <a:defRPr sz="1100" b="1">
                <a:solidFill>
                  <a:srgbClr val="5F6973"/>
                </a:solidFill>
                <a:latin typeface="Aptos"/>
              </a:defRPr>
            </a:pPr>
            <a:r>
              <a:t>TEAM-7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2011680" cy="22860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>
              <a:defRPr sz="900" b="0">
                <a:solidFill>
                  <a:srgbClr val="5F6973"/>
                </a:solidFill>
                <a:latin typeface="Aptos"/>
              </a:defRPr>
            </a:pPr>
            <a:r>
              <a:t>EMPLOYEE RECORD SYSTEM  |  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417320"/>
            <a:ext cx="3794760" cy="4709160"/>
          </a:xfrm>
          <a:prstGeom prst="roundRect">
            <a:avLst/>
          </a:prstGeom>
          <a:solidFill>
            <a:srgbClr val="E8F3FD"/>
          </a:solidFill>
          <a:ln>
            <a:solidFill>
              <a:srgbClr val="266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1252728"/>
            <a:ext cx="3154680" cy="438912"/>
          </a:xfrm>
          <a:prstGeom prst="roundRect">
            <a:avLst/>
          </a:prstGeom>
          <a:solidFill>
            <a:srgbClr val="2667A6"/>
          </a:solidFill>
          <a:ln>
            <a:solidFill>
              <a:srgbClr val="266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1289304"/>
            <a:ext cx="3063240" cy="347472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PROGRAM WORKFLOW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2057400"/>
            <a:ext cx="2743200" cy="393192"/>
          </a:xfrm>
          <a:prstGeom prst="roundRect">
            <a:avLst/>
          </a:prstGeom>
          <a:solidFill>
            <a:srgbClr val="FFFFFF"/>
          </a:solidFill>
          <a:ln>
            <a:solidFill>
              <a:srgbClr val="B4C6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87552" y="2093976"/>
            <a:ext cx="2596896" cy="292608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ctr">
              <a:defRPr sz="1300" b="1">
                <a:solidFill>
                  <a:srgbClr val="1A222A"/>
                </a:solidFill>
                <a:latin typeface="Aptos"/>
              </a:defRPr>
            </a:pPr>
            <a:r>
              <a:t>Start program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2441448"/>
            <a:ext cx="548640" cy="201168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ctr">
              <a:defRPr sz="1400" b="1">
                <a:solidFill>
                  <a:srgbClr val="2667A6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2660904"/>
            <a:ext cx="2743200" cy="393192"/>
          </a:xfrm>
          <a:prstGeom prst="roundRect">
            <a:avLst/>
          </a:prstGeom>
          <a:solidFill>
            <a:srgbClr val="FFFFFF"/>
          </a:solidFill>
          <a:ln>
            <a:solidFill>
              <a:srgbClr val="B4C6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87552" y="2697480"/>
            <a:ext cx="2596896" cy="292608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ctr">
              <a:defRPr sz="1300" b="1">
                <a:solidFill>
                  <a:srgbClr val="1A222A"/>
                </a:solidFill>
                <a:latin typeface="Aptos"/>
              </a:defRPr>
            </a:pPr>
            <a:r>
              <a:t>Load emp.txt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3044952"/>
            <a:ext cx="548640" cy="201168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ctr">
              <a:defRPr sz="1400" b="1">
                <a:solidFill>
                  <a:srgbClr val="2667A6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3264408"/>
            <a:ext cx="2743200" cy="393192"/>
          </a:xfrm>
          <a:prstGeom prst="roundRect">
            <a:avLst/>
          </a:prstGeom>
          <a:solidFill>
            <a:srgbClr val="FFFFFF"/>
          </a:solidFill>
          <a:ln>
            <a:solidFill>
              <a:srgbClr val="B4C6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87552" y="3300984"/>
            <a:ext cx="2596896" cy="292608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ctr">
              <a:defRPr sz="1300" b="1">
                <a:solidFill>
                  <a:srgbClr val="1A222A"/>
                </a:solidFill>
                <a:latin typeface="Aptos"/>
              </a:defRPr>
            </a:pPr>
            <a:r>
              <a:t>Display menu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3648456"/>
            <a:ext cx="548640" cy="201168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ctr">
              <a:defRPr sz="1400" b="1">
                <a:solidFill>
                  <a:srgbClr val="2667A6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3867912"/>
            <a:ext cx="2743200" cy="393192"/>
          </a:xfrm>
          <a:prstGeom prst="roundRect">
            <a:avLst/>
          </a:prstGeom>
          <a:solidFill>
            <a:srgbClr val="FFFFFF"/>
          </a:solidFill>
          <a:ln>
            <a:solidFill>
              <a:srgbClr val="B4C6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87552" y="3904488"/>
            <a:ext cx="2596896" cy="292608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ctr">
              <a:defRPr sz="1300" b="1">
                <a:solidFill>
                  <a:srgbClr val="1A222A"/>
                </a:solidFill>
                <a:latin typeface="Aptos"/>
              </a:defRPr>
            </a:pPr>
            <a:r>
              <a:t>Select operation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0" y="4251960"/>
            <a:ext cx="548640" cy="201168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ctr">
              <a:defRPr sz="1400" b="1">
                <a:solidFill>
                  <a:srgbClr val="2667A6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4471416"/>
            <a:ext cx="2743200" cy="393192"/>
          </a:xfrm>
          <a:prstGeom prst="roundRect">
            <a:avLst/>
          </a:prstGeom>
          <a:solidFill>
            <a:srgbClr val="FFFFFF"/>
          </a:solidFill>
          <a:ln>
            <a:solidFill>
              <a:srgbClr val="B4C6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87552" y="4507992"/>
            <a:ext cx="2596896" cy="292608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ctr">
              <a:defRPr sz="1300" b="1">
                <a:solidFill>
                  <a:srgbClr val="1A222A"/>
                </a:solidFill>
                <a:latin typeface="Aptos"/>
              </a:defRPr>
            </a:pPr>
            <a:r>
              <a:t>Show result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0" y="4855464"/>
            <a:ext cx="548640" cy="201168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ctr">
              <a:defRPr sz="1400" b="1">
                <a:solidFill>
                  <a:srgbClr val="2667A6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" y="5074920"/>
            <a:ext cx="2743200" cy="393192"/>
          </a:xfrm>
          <a:prstGeom prst="roundRect">
            <a:avLst/>
          </a:prstGeom>
          <a:solidFill>
            <a:srgbClr val="FFFFFF"/>
          </a:solidFill>
          <a:ln>
            <a:solidFill>
              <a:srgbClr val="B4C6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87552" y="5111496"/>
            <a:ext cx="2596896" cy="292608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ctr">
              <a:defRPr sz="1300" b="1">
                <a:solidFill>
                  <a:srgbClr val="1A222A"/>
                </a:solidFill>
                <a:latin typeface="Aptos"/>
              </a:defRPr>
            </a:pPr>
            <a:r>
              <a:t>Save / Exit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26280" y="1417320"/>
            <a:ext cx="7223760" cy="4709160"/>
          </a:xfrm>
          <a:prstGeom prst="roundRect">
            <a:avLst/>
          </a:prstGeom>
          <a:solidFill>
            <a:srgbClr val="F6F8FA"/>
          </a:solidFill>
          <a:ln>
            <a:solidFill>
              <a:srgbClr val="5F69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4846320" y="1252728"/>
            <a:ext cx="6583680" cy="438912"/>
          </a:xfrm>
          <a:prstGeom prst="roundRect">
            <a:avLst/>
          </a:prstGeom>
          <a:solidFill>
            <a:srgbClr val="143559"/>
          </a:solidFill>
          <a:ln>
            <a:solidFill>
              <a:srgbClr val="1435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892040" y="1289304"/>
            <a:ext cx="6492240" cy="347472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SAMPLE TERMINAL OUTPUT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800600" y="2057400"/>
            <a:ext cx="6629400" cy="3611880"/>
          </a:xfrm>
          <a:prstGeom prst="roundRect">
            <a:avLst/>
          </a:prstGeom>
          <a:solidFill>
            <a:srgbClr val="101214"/>
          </a:solidFill>
          <a:ln>
            <a:solidFill>
              <a:srgbClr val="1012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010912" y="2212848"/>
            <a:ext cx="6217920" cy="329184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>
              <a:defRPr sz="1200" b="0">
                <a:solidFill>
                  <a:srgbClr val="DDF5DD"/>
                </a:solidFill>
                <a:latin typeface="Consolas"/>
              </a:defRPr>
            </a:pPr>
            <a:r>
              <a:t>===== EMPLOYEE RECORD SYSTEM =====</a:t>
            </a:r>
            <a:br/>
            <a:r>
              <a:t>1. Add Employee</a:t>
            </a:r>
            <a:br/>
            <a:r>
              <a:t>2. Display All Employees</a:t>
            </a:r>
            <a:br/>
            <a:r>
              <a:t>3. Search Employee</a:t>
            </a:r>
            <a:br/>
            <a:r>
              <a:t>4. Sort Employees</a:t>
            </a:r>
            <a:br/>
            <a:r>
              <a:t>5. Update Employee</a:t>
            </a:r>
            <a:br/>
            <a:r>
              <a:t>6. Delete Employee</a:t>
            </a:r>
            <a:br/>
            <a:r>
              <a:t>7. Save Records</a:t>
            </a:r>
            <a:br/>
            <a:r>
              <a:t>8. Exit</a:t>
            </a:r>
            <a:br/>
            <a:br/>
            <a:r>
              <a:t>Enter your choice: 2</a:t>
            </a:r>
            <a:br/>
            <a:r>
              <a:t>ID     Name       Department    Salary</a:t>
            </a:r>
            <a:br/>
            <a:r>
              <a:t>101    Rahul      CSE           35000.00</a:t>
            </a:r>
            <a:br/>
            <a:r>
              <a:t>102    Priya      IT            42000.00</a:t>
            </a:r>
            <a:br/>
            <a:r>
              <a:t>103    Aman       ECE           38000.00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46320" y="5715000"/>
            <a:ext cx="6492240" cy="22860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ctr">
              <a:defRPr sz="1000" b="0">
                <a:solidFill>
                  <a:srgbClr val="5F6973"/>
                </a:solidFill>
                <a:latin typeface="Aptos"/>
              </a:defRPr>
            </a:pPr>
            <a:r>
              <a:t>Illustrative example — replace with your actual terminal screenshot if available.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43559"/>
          </a:solidFill>
          <a:ln>
            <a:solidFill>
              <a:srgbClr val="1435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0698480" cy="658368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11109960" y="0"/>
            <a:ext cx="411480" cy="914400"/>
          </a:xfrm>
          <a:prstGeom prst="rect">
            <a:avLst/>
          </a:prstGeom>
          <a:solidFill>
            <a:srgbClr val="2667A6"/>
          </a:solidFill>
          <a:ln>
            <a:solidFill>
              <a:srgbClr val="266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1539728" y="0"/>
            <a:ext cx="292608" cy="914400"/>
          </a:xfrm>
          <a:prstGeom prst="rect">
            <a:avLst/>
          </a:prstGeom>
          <a:solidFill>
            <a:srgbClr val="368BCF"/>
          </a:solidFill>
          <a:ln>
            <a:solidFill>
              <a:srgbClr val="368B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61320" y="6473952"/>
            <a:ext cx="1143000" cy="22860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r">
              <a:defRPr sz="1100" b="1">
                <a:solidFill>
                  <a:srgbClr val="5F6973"/>
                </a:solidFill>
                <a:latin typeface="Aptos"/>
              </a:defRPr>
            </a:pPr>
            <a:r>
              <a:t>TEAM-7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2011680" cy="22860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>
              <a:defRPr sz="900" b="0">
                <a:solidFill>
                  <a:srgbClr val="5F6973"/>
                </a:solidFill>
                <a:latin typeface="Aptos"/>
              </a:defRPr>
            </a:pPr>
            <a:r>
              <a:t>EMPLOYEE RECORD SYSTEM  | 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417320"/>
            <a:ext cx="10332720" cy="685800"/>
          </a:xfrm>
          <a:prstGeom prst="roundRect">
            <a:avLst/>
          </a:prstGeom>
          <a:solidFill>
            <a:srgbClr val="143559"/>
          </a:solidFill>
          <a:ln>
            <a:solidFill>
              <a:srgbClr val="1435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1554480"/>
            <a:ext cx="9966960" cy="41148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Aptos"/>
              </a:defRPr>
            </a:pPr>
            <a:r>
              <a:t>PROJECT OUTCOME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34440" y="2331720"/>
            <a:ext cx="502920" cy="438912"/>
          </a:xfrm>
          <a:prstGeom prst="roundRect">
            <a:avLst/>
          </a:prstGeom>
          <a:solidFill>
            <a:srgbClr val="2667A6"/>
          </a:solidFill>
          <a:ln>
            <a:solidFill>
              <a:srgbClr val="266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61872" y="2386584"/>
            <a:ext cx="448056" cy="310896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2368296"/>
            <a:ext cx="8869680" cy="36576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>
              <a:defRPr sz="1600" b="0">
                <a:solidFill>
                  <a:srgbClr val="1A222A"/>
                </a:solidFill>
                <a:latin typeface="Aptos"/>
              </a:defRPr>
            </a:pPr>
            <a:r>
              <a:t>Structures and arrays store employee information.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34440" y="2926079"/>
            <a:ext cx="502920" cy="438912"/>
          </a:xfrm>
          <a:prstGeom prst="roundRect">
            <a:avLst/>
          </a:prstGeom>
          <a:solidFill>
            <a:srgbClr val="227B4E"/>
          </a:solidFill>
          <a:ln>
            <a:solidFill>
              <a:srgbClr val="227B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261872" y="2980944"/>
            <a:ext cx="448056" cy="310896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2962656"/>
            <a:ext cx="8869680" cy="36576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>
              <a:defRPr sz="1600" b="0">
                <a:solidFill>
                  <a:srgbClr val="1A222A"/>
                </a:solidFill>
                <a:latin typeface="Aptos"/>
              </a:defRPr>
            </a:pPr>
            <a:r>
              <a:t>Linear Search finds records by ID or name.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34440" y="3520439"/>
            <a:ext cx="502920" cy="438912"/>
          </a:xfrm>
          <a:prstGeom prst="roundRect">
            <a:avLst/>
          </a:prstGeom>
          <a:solidFill>
            <a:srgbClr val="CA3E3A"/>
          </a:solidFill>
          <a:ln>
            <a:solidFill>
              <a:srgbClr val="CA3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261872" y="3575303"/>
            <a:ext cx="448056" cy="310896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3557015"/>
            <a:ext cx="8869680" cy="36576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>
              <a:defRPr sz="1600" b="0">
                <a:solidFill>
                  <a:srgbClr val="1A222A"/>
                </a:solidFill>
                <a:latin typeface="Aptos"/>
              </a:defRPr>
            </a:pPr>
            <a:r>
              <a:t>Bubble Sort arranges records by ID, name, or salary.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234440" y="4114800"/>
            <a:ext cx="502920" cy="438912"/>
          </a:xfrm>
          <a:prstGeom prst="roundRect">
            <a:avLst/>
          </a:prstGeom>
          <a:solidFill>
            <a:srgbClr val="704CA0"/>
          </a:solidFill>
          <a:ln>
            <a:solidFill>
              <a:srgbClr val="704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261872" y="4169663"/>
            <a:ext cx="448056" cy="310896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20240" y="4151376"/>
            <a:ext cx="8869680" cy="36576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>
              <a:defRPr sz="1600" b="0">
                <a:solidFill>
                  <a:srgbClr val="1A222A"/>
                </a:solidFill>
                <a:latin typeface="Aptos"/>
              </a:defRPr>
            </a:pPr>
            <a:r>
              <a:t>CRUD operations manage employee records.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234440" y="4709160"/>
            <a:ext cx="502920" cy="438912"/>
          </a:xfrm>
          <a:prstGeom prst="roundRect">
            <a:avLst/>
          </a:prstGeom>
          <a:solidFill>
            <a:srgbClr val="143559"/>
          </a:solidFill>
          <a:ln>
            <a:solidFill>
              <a:srgbClr val="1435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261872" y="4764024"/>
            <a:ext cx="448056" cy="310896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20240" y="4745736"/>
            <a:ext cx="8869680" cy="36576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>
              <a:defRPr sz="1600" b="0">
                <a:solidFill>
                  <a:srgbClr val="1A222A"/>
                </a:solidFill>
                <a:latin typeface="Aptos"/>
              </a:defRPr>
            </a:pPr>
            <a:r>
              <a:t>File handling saves and loads data using emp.txt.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91840" y="5532120"/>
            <a:ext cx="5623560" cy="594360"/>
          </a:xfrm>
          <a:prstGeom prst="roundRect">
            <a:avLst/>
          </a:prstGeom>
          <a:solidFill>
            <a:srgbClr val="EBF7ED"/>
          </a:solidFill>
          <a:ln>
            <a:solidFill>
              <a:srgbClr val="227B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474720" y="5623560"/>
            <a:ext cx="5257800" cy="680186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ctr">
              <a:defRPr sz="2000" b="1">
                <a:solidFill>
                  <a:srgbClr val="227B4E"/>
                </a:solidFill>
                <a:latin typeface="Aptos"/>
              </a:defRPr>
            </a:pPr>
            <a:r>
              <a:rPr dirty="0"/>
              <a:t>THANK YOU  </a:t>
            </a:r>
            <a:endParaRPr lang="en-IN" dirty="0"/>
          </a:p>
          <a:p>
            <a:pPr algn="ctr">
              <a:defRPr sz="2000" b="1">
                <a:solidFill>
                  <a:srgbClr val="227B4E"/>
                </a:solidFill>
                <a:latin typeface="Aptos"/>
              </a:defRPr>
            </a:pP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752</Words>
  <Application>Microsoft Office PowerPoint</Application>
  <PresentationFormat>Widescreen</PresentationFormat>
  <Paragraphs>166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Sohail Khan</cp:lastModifiedBy>
  <cp:revision>2</cp:revision>
  <dcterms:created xsi:type="dcterms:W3CDTF">2013-01-27T09:14:16Z</dcterms:created>
  <dcterms:modified xsi:type="dcterms:W3CDTF">2026-10-14T08:41:31Z</dcterms:modified>
  <cp:category/>
</cp:coreProperties>
</file>